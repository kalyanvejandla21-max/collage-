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943600"/>
          </a:xfrm>
          <a:prstGeom prst="ellipse">
            <a:avLst/>
          </a:prstGeom>
          <a:solidFill>
            <a:srgbClr val="0F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  <a:latin typeface="Montserrat"/>
              </a:defRPr>
            </a:pPr>
            <a:r>
              <a:t>B.TECH FINAL YEAR PROJECT PRESENTATION</a:t>
            </a:r>
          </a:p>
          <a:p>
            <a:pPr>
              <a:spcAft>
                <a:spcPts val="800"/>
              </a:spcAft>
              <a:defRPr sz="3000" b="1">
                <a:solidFill>
                  <a:srgbClr val="F8FAFC"/>
                </a:solidFill>
                <a:latin typeface="Montserrat"/>
              </a:defRPr>
            </a:pPr>
            <a:r>
              <a:t>WEB-BASED ONLINE EXAMINATION PORTAL</a:t>
            </a:r>
          </a:p>
          <a:p>
            <a:pPr>
              <a:spcAft>
                <a:spcPts val="2400"/>
              </a:spcAft>
              <a:defRPr sz="1800" b="1">
                <a:solidFill>
                  <a:srgbClr val="06B6D4"/>
                </a:solidFill>
                <a:latin typeface="Montserrat"/>
              </a:defRPr>
            </a:pPr>
            <a:r>
              <a:t>Randomized Question Generation and Exam Security</a:t>
            </a:r>
          </a:p>
          <a:p>
            <a:r>
              <a:rPr b="1" sz="1300">
                <a:solidFill>
                  <a:srgbClr val="F59E0B"/>
                </a:solidFill>
              </a:rPr>
              <a:t>PROJECT BATCH NO: </a:t>
            </a:r>
            <a:r>
              <a:rPr sz="1300">
                <a:solidFill>
                  <a:srgbClr val="F8FAFC"/>
                </a:solidFill>
              </a:rPr>
              <a:t>Batch 14    |    </a:t>
            </a:r>
            <a:r>
              <a:rPr b="1" sz="1300">
                <a:solidFill>
                  <a:srgbClr val="F59E0B"/>
                </a:solidFill>
              </a:rPr>
              <a:t>ACADEMIC YEAR: </a:t>
            </a:r>
            <a:r>
              <a:rPr sz="1300">
                <a:solidFill>
                  <a:srgbClr val="F8FAFC"/>
                </a:solidFill>
              </a:rPr>
              <a:t>2026–2027
</a:t>
            </a:r>
          </a:p>
          <a:p>
            <a:pPr>
              <a:spcAft>
                <a:spcPts val="2000"/>
              </a:spcAft>
            </a:pPr>
            <a:r>
              <a:rPr b="1" sz="1300">
                <a:solidFill>
                  <a:srgbClr val="F59E0B"/>
                </a:solidFill>
              </a:rPr>
              <a:t>PROJECT GUIDE: </a:t>
            </a:r>
            <a:r>
              <a:rPr sz="1300">
                <a:solidFill>
                  <a:srgbClr val="F8FAFC"/>
                </a:solidFill>
              </a:rPr>
              <a:t>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097280"/>
            <a:ext cx="3657600" cy="47548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325880"/>
            <a:ext cx="32004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Montserrat"/>
              </a:defRPr>
            </a:pPr>
            <a:r>
              <a:t>TEAM MEMBERS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G. Uday Kiran: </a:t>
            </a:r>
            <a:r>
              <a:rPr>
                <a:solidFill>
                  <a:srgbClr val="94A3B8"/>
                </a:solidFill>
              </a:rPr>
              <a:t>24HP1A0565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K. Nagarjuna: </a:t>
            </a:r>
            <a:r>
              <a:rPr>
                <a:solidFill>
                  <a:srgbClr val="94A3B8"/>
                </a:solidFill>
              </a:rPr>
              <a:t>24HP1A0552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Ranga Swamy: </a:t>
            </a:r>
            <a:r>
              <a:rPr>
                <a:solidFill>
                  <a:srgbClr val="94A3B8"/>
                </a:solidFill>
              </a:rPr>
              <a:t>24HP1A0561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V. Kalyan: </a:t>
            </a:r>
            <a:r>
              <a:rPr>
                <a:solidFill>
                  <a:srgbClr val="94A3B8"/>
                </a:solidFill>
              </a:rPr>
              <a:t>24HP1A0541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6675120" cy="914400"/>
          </a:xfrm>
          <a:prstGeom prst="roundRect">
            <a:avLst/>
          </a:prstGeom>
          <a:solidFill>
            <a:srgbClr val="121A2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Inter"/>
              </a:defRPr>
            </a:pPr>
            <a:r>
              <a:t>💻 Online Exam Dashboard  |  🛡 Fullscreen &amp; Tab Monitoring  |  ⏱ 30-Min Timer  |  🔀 Fisher-Yates MCQ Shuffle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02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3749039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029200" cy="329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Montserrat"/>
              </a:defRPr>
            </a:pPr>
            <a:r>
              <a:t>Conventional Examination Drawbacks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Time-Consuming Setup: </a:t>
            </a:r>
            <a:r>
              <a:rPr>
                <a:solidFill>
                  <a:srgbClr val="94A3B8"/>
                </a:solidFill>
              </a:rPr>
              <a:t>Manual question paper preparation requires excessive faculty effort.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Predictable Question Paper: </a:t>
            </a:r>
            <a:r>
              <a:rPr>
                <a:solidFill>
                  <a:srgbClr val="94A3B8"/>
                </a:solidFill>
              </a:rPr>
              <a:t>Students receive identical or static question sequences.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Reduced Assessment Value: </a:t>
            </a:r>
            <a:r>
              <a:rPr>
                <a:solidFill>
                  <a:srgbClr val="94A3B8"/>
                </a:solidFill>
              </a:rPr>
              <a:t>Repeated questions compromise exam integrity and evaluation effectiveness.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Manual Evaluation Delay: </a:t>
            </a:r>
            <a:r>
              <a:rPr>
                <a:solidFill>
                  <a:srgbClr val="94A3B8"/>
                </a:solidFill>
              </a:rPr>
              <a:t>Physical grading introduces delays, human errors, and resource overhead.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Limited Security Monitoring: </a:t>
            </a:r>
            <a:r>
              <a:rPr>
                <a:solidFill>
                  <a:srgbClr val="94A3B8"/>
                </a:solidFill>
              </a:rPr>
              <a:t>Basic systems lack active tab-switching and window-blur detection.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Delayed Results: </a:t>
            </a:r>
            <a:r>
              <a:rPr>
                <a:solidFill>
                  <a:srgbClr val="94A3B8"/>
                </a:solidFill>
              </a:rPr>
              <a:t>Students wait days/weeks for score publication.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3749039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480560" cy="329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Montserrat"/>
              </a:defRPr>
            </a:pPr>
            <a:r>
              <a:t>Problem → Challenges → Need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1. Manual Work: </a:t>
            </a:r>
            <a:r>
              <a:rPr>
                <a:solidFill>
                  <a:srgbClr val="94A3B8"/>
                </a:solidFill>
              </a:rPr>
              <a:t>Paper creation &amp; manual grading burden faculty.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2. Repetition: </a:t>
            </a:r>
            <a:r>
              <a:rPr>
                <a:solidFill>
                  <a:srgbClr val="94A3B8"/>
                </a:solidFill>
              </a:rPr>
              <a:t>Static question papers facilitate unfair practices.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3. Security Issues: </a:t>
            </a:r>
            <a:r>
              <a:rPr>
                <a:solidFill>
                  <a:srgbClr val="94A3B8"/>
                </a:solidFill>
              </a:rPr>
              <a:t>Tab switching &amp; window leaving undetected.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4. Delayed Results: </a:t>
            </a:r>
            <a:r>
              <a:rPr>
                <a:solidFill>
                  <a:srgbClr val="94A3B8"/>
                </a:solidFill>
              </a:rPr>
              <a:t>No real-time feedback or automated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728655" cy="91440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Montserrat"/>
              </a:defRPr>
            </a:pPr>
            <a:r>
              <a:t>CORE MISSION REQUIREMENT:</a:t>
            </a:r>
          </a:p>
          <a:p>
            <a:pPr>
              <a:defRPr sz="1300" b="1">
                <a:solidFill>
                  <a:srgbClr val="F8FAFC"/>
                </a:solidFill>
                <a:latin typeface="Inter"/>
              </a:defRPr>
            </a:pPr>
            <a:r>
              <a:t>"There is a need for a centralized, automated and secure online examination platform that can generate randomized question papers, monitor examination behavior and evaluate answers instantly."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03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PROPOSED SYSTEM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91440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Montserrat"/>
              </a:defRPr>
            </a:pPr>
            <a:r>
              <a:t>Centralized Web-Based Examination Platform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>
                <a:solidFill>
                  <a:srgbClr val="F8FAFC"/>
                </a:solidFill>
              </a:rPr>
              <a:t>• Provides an end-to-end automated platform integrating student authentication, randomized MCQ extraction, live browser-level security enforcement, automated evaluation, and instant result publishing.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6B6D4"/>
                </a:solidFill>
                <a:latin typeface="Montserrat"/>
              </a:defRPr>
            </a:pPr>
            <a:r>
              <a:t>1. LOGIN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Credential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46888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6B6D4"/>
                </a:solidFill>
                <a:latin typeface="Montserrat"/>
              </a:defRPr>
            </a:pPr>
            <a:r>
              <a:t>2. SUBJECT SELECT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Pick exam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6B6D4"/>
                </a:solidFill>
                <a:latin typeface="Montserrat"/>
              </a:defRPr>
            </a:pPr>
            <a:r>
              <a:t>3. QUESTION BANK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Load MCQ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46888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8B5CF6"/>
                </a:solidFill>
                <a:latin typeface="Montserrat"/>
              </a:defRPr>
            </a:pPr>
            <a:r>
              <a:t>4. RANDOM 20 MCQs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Extract question subset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8B5CF6"/>
                </a:solidFill>
                <a:latin typeface="Montserrat"/>
              </a:defRPr>
            </a:pPr>
            <a:r>
              <a:t>5. SHUFFLE MCQs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Fisher-Yates shuffle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38912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Montserrat"/>
              </a:defRPr>
            </a:pPr>
            <a:r>
              <a:t>6. SECURE EXAM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Fullscreen &amp; focus 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38912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  <a:latin typeface="Montserrat"/>
              </a:defRPr>
            </a:pPr>
            <a:r>
              <a:t>7. AUTO EVALUATION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Instant score compute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389120"/>
            <a:ext cx="2468880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  <a:latin typeface="Montserrat"/>
              </a:defRPr>
            </a:pPr>
            <a:r>
              <a:t>8. RESULT</a:t>
            </a:r>
          </a:p>
          <a:p>
            <a:pPr algn="ctr">
              <a:defRPr sz="1100">
                <a:solidFill>
                  <a:srgbClr val="94A3B8"/>
                </a:solidFill>
                <a:latin typeface="Inter"/>
              </a:defRPr>
            </a:pPr>
            <a:r>
              <a:t>Immediate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04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RANDOMIZED MCQ SYSTEM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Montserrat"/>
              </a:defRPr>
            </a:pPr>
            <a:r>
              <a:t>Fisher-Yates Shuffle &amp; Randomization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Subject Question Banks: </a:t>
            </a:r>
            <a:r>
              <a:rPr>
                <a:solidFill>
                  <a:srgbClr val="94A3B8"/>
                </a:solidFill>
              </a:rPr>
              <a:t>Maintains MCQ banks for subjects (Computer Networks, Quantum Computing).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Exact 20-Question Extraction: </a:t>
            </a:r>
            <a:r>
              <a:rPr>
                <a:solidFill>
                  <a:srgbClr val="94A3B8"/>
                </a:solidFill>
              </a:rPr>
              <a:t>Randomly selects exactly 20 non-duplicate questions per test attempt.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Question Sequence Shuffle: </a:t>
            </a:r>
            <a:r>
              <a:rPr>
                <a:solidFill>
                  <a:srgbClr val="94A3B8"/>
                </a:solidFill>
              </a:rPr>
              <a:t>Fisher-Yates algorithm randomizes question ordering.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Option Shuffling (A, B, C, D): </a:t>
            </a:r>
            <a:r>
              <a:rPr>
                <a:solidFill>
                  <a:srgbClr val="94A3B8"/>
                </a:solidFill>
              </a:rPr>
              <a:t>All options shuffled independently per question.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Correct Answer Mapping: </a:t>
            </a:r>
            <a:r>
              <a:rPr>
                <a:solidFill>
                  <a:srgbClr val="94A3B8"/>
                </a:solidFill>
              </a:rPr>
              <a:t>Preserves underlying correct answer index after option shuffle.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Unique Test Instance: </a:t>
            </a:r>
            <a:r>
              <a:rPr>
                <a:solidFill>
                  <a:srgbClr val="94A3B8"/>
                </a:solidFill>
              </a:rPr>
              <a:t>Every student attempt produces a unique, un-copyable paper.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Montserrat"/>
              </a:defRPr>
            </a:pPr>
            <a:r>
              <a:t>Core Examination Engine Features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30-Minute Countdown Timer: </a:t>
            </a:r>
            <a:r>
              <a:rPr>
                <a:solidFill>
                  <a:srgbClr val="94A3B8"/>
                </a:solidFill>
              </a:rPr>
              <a:t>Live countdown with automated force submission on expiry.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Question Navigation Palette: </a:t>
            </a:r>
            <a:r>
              <a:rPr>
                <a:solidFill>
                  <a:srgbClr val="94A3B8"/>
                </a:solidFill>
              </a:rPr>
              <a:t>Color-coded grid for Answered / Unanswered tracking.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Previous / Next Controls: </a:t>
            </a:r>
            <a:r>
              <a:rPr>
                <a:solidFill>
                  <a:srgbClr val="94A3B8"/>
                </a:solidFill>
              </a:rPr>
              <a:t>Seamless switching between questions with answer state persistence.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Auto-Save Engine: </a:t>
            </a:r>
            <a:r>
              <a:rPr>
                <a:solidFill>
                  <a:srgbClr val="94A3B8"/>
                </a:solidFill>
              </a:rPr>
              <a:t>Student responses saved instantly in background local/session storage.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Review Unanswered Items: </a:t>
            </a:r>
            <a:r>
              <a:rPr>
                <a:solidFill>
                  <a:srgbClr val="94A3B8"/>
                </a:solidFill>
              </a:rPr>
              <a:t>Quick filter to jump to skipped questions before submitting.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Instant Score Calculation: </a:t>
            </a:r>
            <a:r>
              <a:rPr>
                <a:solidFill>
                  <a:srgbClr val="94A3B8"/>
                </a:solidFill>
              </a:rPr>
              <a:t>Immediate evaluation upon student submit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05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EXAM SECURITY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Montserrat"/>
              </a:defRPr>
            </a:pPr>
            <a:r>
              <a:t>Browser Security Mechanisms &amp; Web APIs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1. Fullscreen Enforcement: </a:t>
            </a:r>
            <a:r>
              <a:rPr>
                <a:solidFill>
                  <a:srgbClr val="94A3B8"/>
                </a:solidFill>
              </a:rPr>
              <a:t>Browser requests fullscreen. Exit triggers detection, warning prompt, &amp; log entry.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2. Tab Switch &amp; Focus Detection: </a:t>
            </a:r>
            <a:r>
              <a:rPr>
                <a:solidFill>
                  <a:srgbClr val="94A3B8"/>
                </a:solidFill>
              </a:rPr>
              <a:t>Detects window blur, tab switching, and browser losing active focus.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Web APIs Employed: </a:t>
            </a:r>
            <a:r>
              <a:rPr>
                <a:solidFill>
                  <a:srgbClr val="94A3B8"/>
                </a:solidFill>
              </a:rPr>
              <a:t>Fullscreen API (fullscreenchange), Page Visibility API (visibilitychange), Window Blur/Focus events.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3-Tier Violation Protocol: </a:t>
            </a:r>
            <a:r>
              <a:rPr>
                <a:solidFill>
                  <a:srgbClr val="94A3B8"/>
                </a:solidFill>
              </a:rPr>
              <a:t>1st: Warning → 2nd: Strong Warning → 3rd: Final Warning.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Security Audit Log: </a:t>
            </a:r>
            <a:r>
              <a:rPr>
                <a:solidFill>
                  <a:srgbClr val="94A3B8"/>
                </a:solidFill>
              </a:rPr>
              <a:t>Logs violation counter, event type, exact timestamp, and student ID.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Scope Boundary Note: </a:t>
            </a:r>
            <a:r>
              <a:rPr>
                <a:solidFill>
                  <a:srgbClr val="94A3B8"/>
                </a:solidFill>
              </a:rPr>
              <a:t>Provides robust browser-level monitoring; does not monitor external physical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754880"/>
          </a:xfrm>
          <a:prstGeom prst="roundRect">
            <a:avLst/>
          </a:prstGeom>
          <a:solidFill>
            <a:srgbClr val="121A2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EF4444"/>
                </a:solidFill>
                <a:latin typeface="Montserrat"/>
              </a:defRPr>
            </a:pPr>
            <a:r>
              <a:t>🔒 LIVE EXAM SECURITY MONITORING DASHBOARD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Montserrat"/>
              </a:rPr>
              <a:t>FULLSCREEN STATUS
</a:t>
            </a:r>
            <a:r>
              <a:rPr sz="1200" b="1">
                <a:solidFill>
                  <a:srgbClr val="10B981"/>
                </a:solidFill>
                <a:latin typeface="Inter"/>
              </a:rPr>
              <a:t>🟢 ACTIVE (LOCK ENGAGED)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Montserrat"/>
              </a:rPr>
              <a:t>PAGE VISIBILITY
</a:t>
            </a:r>
            <a:r>
              <a:rPr sz="1200" b="1">
                <a:solidFill>
                  <a:srgbClr val="10B981"/>
                </a:solidFill>
                <a:latin typeface="Inter"/>
              </a:rPr>
              <a:t>🟢 FOCUS DETECTED (TAB ACTIVE)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Montserrat"/>
              </a:rPr>
              <a:t>VIOLATION COUNTER
</a:t>
            </a:r>
            <a:r>
              <a:rPr sz="1200" b="1">
                <a:solidFill>
                  <a:srgbClr val="F59E0B"/>
                </a:solidFill>
                <a:latin typeface="Inter"/>
              </a:rPr>
              <a:t>⚠️ 1 / 3 WARNINGS ISSUED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Montserrat"/>
              </a:rPr>
              <a:t>SECURITY EVENT LOG
</a:t>
            </a:r>
            <a:r>
              <a:rPr sz="1200" b="1">
                <a:solidFill>
                  <a:srgbClr val="06B6D4"/>
                </a:solidFill>
                <a:latin typeface="Inter"/>
              </a:rPr>
              <a:t>• 09:14:22 AM - FULLSCREEN_EXIT DETECTED
• 09:14:25 AM - FULLSCREEN_RESTORED
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Montserrat"/>
              </a:rPr>
              <a:t>MONITORING APIS
</a:t>
            </a:r>
            <a:r>
              <a:rPr sz="1200" b="1">
                <a:solidFill>
                  <a:srgbClr val="94A3B8"/>
                </a:solidFill>
                <a:latin typeface="Inter"/>
              </a:rPr>
              <a:t>Fullscreen API | Page Visibility API | Focus/Blur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06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TECHNOLOGY STACK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29260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011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Montserrat"/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Core Tech: </a:t>
            </a:r>
            <a:r>
              <a:rPr>
                <a:solidFill>
                  <a:srgbClr val="94A3B8"/>
                </a:solidFill>
              </a:rPr>
              <a:t>HTML5, CSS3, JavaScript, React.js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Usage: </a:t>
            </a:r>
            <a:r>
              <a:rPr>
                <a:solidFill>
                  <a:srgbClr val="94A3B8"/>
                </a:solidFill>
              </a:rPr>
              <a:t>User Interface, Login, Subject selection, Exam screen, Timer, Result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29260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600200"/>
            <a:ext cx="2011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Montserrat"/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Core Tech: </a:t>
            </a:r>
            <a:r>
              <a:rPr>
                <a:solidFill>
                  <a:srgbClr val="94A3B8"/>
                </a:solidFill>
              </a:rPr>
              <a:t>Node.js, Express.js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Usage: </a:t>
            </a:r>
            <a:r>
              <a:rPr>
                <a:solidFill>
                  <a:srgbClr val="94A3B8"/>
                </a:solidFill>
              </a:rPr>
              <a:t>REST APIs, Exam session management, Question retrieval, Scoring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468880" cy="29260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2011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Montserrat"/>
              </a:defRPr>
            </a:pPr>
            <a:r>
              <a:t>DATABASE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Core Tech: </a:t>
            </a:r>
            <a:r>
              <a:rPr>
                <a:solidFill>
                  <a:srgbClr val="94A3B8"/>
                </a:solidFill>
              </a:rPr>
              <a:t>MySQL or MongoDB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Usage: </a:t>
            </a:r>
            <a:r>
              <a:rPr>
                <a:solidFill>
                  <a:srgbClr val="94A3B8"/>
                </a:solidFill>
              </a:rPr>
              <a:t>Student info, Question bank, Sessions, Answers, Security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29260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600200"/>
            <a:ext cx="2011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Montserrat"/>
              </a:defRPr>
            </a:pPr>
            <a:r>
              <a:t>DATA &amp; SECURITY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Files: </a:t>
            </a:r>
            <a:r>
              <a:rPr>
                <a:solidFill>
                  <a:srgbClr val="94A3B8"/>
                </a:solidFill>
              </a:rPr>
              <a:t>Excel-based MCQ files (Question, Opt A-D, Correct Index)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APIs: </a:t>
            </a:r>
            <a:r>
              <a:rPr>
                <a:solidFill>
                  <a:srgbClr val="94A3B8"/>
                </a:solidFill>
              </a:rPr>
              <a:t>Fullscreen &amp; Page Visibility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F59E0B"/>
                </a:solidFill>
                <a:latin typeface="Montserrat"/>
              </a:defRPr>
            </a:pPr>
            <a:r>
              <a:t>LAYERED SYSTEM ARCHITECTURE DIAGRAM</a:t>
            </a:r>
          </a:p>
          <a:p>
            <a:pPr algn="ctr">
              <a:defRPr sz="1300" b="1">
                <a:solidFill>
                  <a:srgbClr val="06B6D4"/>
                </a:solidFill>
                <a:latin typeface="Montserrat"/>
              </a:defRPr>
            </a:pPr>
            <a:r>
              <a:t>STUDENT  ──▶  REACT FRONTEND (Security APIs Enabled)  ──▶  NODE.JS / EXPRESS REST API  ──▶  DATABASE / EXCEL QUESTION BANK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BATCH 14  •  B.TECH PROJECT REVIEW  •  SLIDE 07</a:t>
            </a:r>
          </a:p>
          <a:p>
            <a:pPr>
              <a:defRPr sz="2800" b="1">
                <a:solidFill>
                  <a:srgbClr val="F8FAFC"/>
                </a:solidFill>
                <a:latin typeface="Montserrat"/>
              </a:defRPr>
            </a:pPr>
            <a:r>
              <a:t>RESULTS, BENEFITS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Batch No. 14 | Academic Year 2026–2027 | Guide: Ms. K. Neeharika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365760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83464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Montserrat"/>
              </a:defRPr>
            </a:pPr>
            <a:r>
              <a:t>Achieved Benefits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Paper Randomization: </a:t>
            </a:r>
            <a:r>
              <a:rPr>
                <a:solidFill>
                  <a:srgbClr val="94A3B8"/>
                </a:solidFill>
              </a:rPr>
              <a:t>Un-copyable question sequences.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Zero Evaluation Delay: </a:t>
            </a:r>
            <a:r>
              <a:rPr>
                <a:solidFill>
                  <a:srgbClr val="94A3B8"/>
                </a:solidFill>
              </a:rPr>
              <a:t>Instant result generation.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Faculty Workload: </a:t>
            </a:r>
            <a:r>
              <a:rPr>
                <a:solidFill>
                  <a:srgbClr val="94A3B8"/>
                </a:solidFill>
              </a:rPr>
              <a:t>Eliminates manual paper grading.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Browser Security: </a:t>
            </a:r>
            <a:r>
              <a:rPr>
                <a:solidFill>
                  <a:srgbClr val="94A3B8"/>
                </a:solidFill>
              </a:rPr>
              <a:t>Tracks tab switches &amp; fullscreen exit.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474720" cy="365760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00200"/>
            <a:ext cx="30175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Montserrat"/>
              </a:defRPr>
            </a:pPr>
            <a:r>
              <a:t>Result Screen Output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Student Details: </a:t>
            </a:r>
            <a:r>
              <a:rPr>
                <a:solidFill>
                  <a:srgbClr val="94A3B8"/>
                </a:solidFill>
              </a:rPr>
              <a:t>Student Name, Reg Number, Subject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Exam Metrics: </a:t>
            </a:r>
            <a:r>
              <a:rPr>
                <a:solidFill>
                  <a:srgbClr val="94A3B8"/>
                </a:solidFill>
              </a:rPr>
              <a:t>Total Questions (20), Correct &amp; Wrong Count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Score Computation: </a:t>
            </a:r>
            <a:r>
              <a:rPr>
                <a:solidFill>
                  <a:srgbClr val="94A3B8"/>
                </a:solidFill>
              </a:rPr>
              <a:t>Marks Obtained, Percentage, Pass/Fail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566160" cy="365760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00200"/>
            <a:ext cx="3108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Montserrat"/>
              </a:defRPr>
            </a:pPr>
            <a:r>
              <a:t>Future Scope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Admin Dashboard: </a:t>
            </a:r>
            <a:r>
              <a:rPr>
                <a:solidFill>
                  <a:srgbClr val="94A3B8"/>
                </a:solidFill>
              </a:rPr>
              <a:t>Faculty question bank &amp; analytics management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Enhanced Security: </a:t>
            </a:r>
            <a:r>
              <a:rPr>
                <a:solidFill>
                  <a:srgbClr val="94A3B8"/>
                </a:solidFill>
              </a:rPr>
              <a:t>Biometric student authentication &amp; AI proctoring</a:t>
            </a:r>
          </a:p>
          <a:p>
            <a:pPr>
              <a:spcAft>
                <a:spcPts val="600"/>
              </a:spcAft>
              <a:defRPr sz="1300">
                <a:latin typeface="Inter"/>
              </a:defRPr>
            </a:pPr>
            <a:r>
              <a:rPr b="1">
                <a:solidFill>
                  <a:srgbClr val="F8FAFC"/>
                </a:solidFill>
              </a:rPr>
              <a:t>• Scaling: </a:t>
            </a:r>
            <a:r>
              <a:rPr>
                <a:solidFill>
                  <a:srgbClr val="94A3B8"/>
                </a:solidFill>
              </a:rPr>
              <a:t>Cloud deployment on AWS &amp; multi-subject expansion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000" b="1">
                <a:solidFill>
                  <a:srgbClr val="F59E0B"/>
                </a:solidFill>
                <a:latin typeface="Montserrat"/>
              </a:defRPr>
            </a:pPr>
            <a:r>
              <a:t>THANK YOU!</a:t>
            </a:r>
          </a:p>
          <a:p>
            <a:pPr algn="ctr">
              <a:defRPr sz="1100" b="1">
                <a:solidFill>
                  <a:srgbClr val="F8FAFC"/>
                </a:solidFill>
                <a:latin typeface="Inter"/>
              </a:defRPr>
            </a:pPr>
            <a:r>
              <a:t>Team: G. Uday Kiran | K. Nagarjuna | Ranga Swamy | V. Kalyan    •    Batch 14 | Academic Year 2026–2027 | Guide: Ms. K. Neeharika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